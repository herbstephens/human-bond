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ln w="635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0580" y="640080"/>
            <a:ext cx="1371600" cy="1371600"/>
          </a:xfrm>
          <a:prstGeom prst="ellipse">
            <a:avLst/>
          </a:prstGeom>
          <a:ln w="63500">
            <a:solidFill>
              <a:srgbClr val="FDFD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1188720"/>
            <a:ext cx="205740" cy="20574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HumanBond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infrastructure for the verified human internet.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World-ID-verified humans. </a:t>
            </a:r>
            <a:pPr algn="ctr" indent="0" marL="0">
              <a:buNone/>
            </a:pPr>
            <a:r>
              <a:rPr lang="en-US" sz="1400" b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cryptographic bond.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406908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069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 3 · FINALIST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· humans building for humans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contract most humans sign runs on 19th-century infrastructure.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60320" cy="21945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 divorce cost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331720"/>
            <a:ext cx="2560320" cy="21945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33172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52044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— average time to finalize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560320" cy="21945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331720"/>
            <a:ext cx="73152" cy="2194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26364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 of status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are the largest beneficiary of every broken contract.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DOWNSTREAM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dating stack that feeds into it is bleeding.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97480" y="2057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major dating-app users are secretly married or in a relationship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965960"/>
            <a:ext cx="393192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0574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12280" y="2057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 to catfishing on dating platforms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393192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04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$1.14B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9748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FTC-reported romance scam losses, 2023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3931920" cy="128016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52044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12280" y="35204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dating-app users report encountering fake profiles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apps have no cryptographic way to prove relationship status — until now.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two-person DAO for World-ID-verified humans.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31920" cy="146304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1732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 IDs co-sign. Deterministic marriage ID. Two soulbound Vow NFTs. 1 TIME each.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3931920" cy="146304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1691640"/>
            <a:ext cx="73152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920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Yield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53212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TIME per day together, claimable anytime, auto-split 50/50.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3931920" cy="146304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337560"/>
            <a:ext cx="73152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41732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Soulbound anniversary NFT every year. Catch-up minting supported.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337560"/>
            <a:ext cx="3931920" cy="146304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63440" y="3337560"/>
            <a:ext cx="73152" cy="1463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661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566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Exit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5532120" y="4023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partner initiates. Pending yield auto-splits. 30-day cooldown. No lawyers.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cascades from one foundation: two unique humans, proven by World ID.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MAINNET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Chain mainnet — today.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contracts deployed and verified on worldscan.org.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7863840" cy="5029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137160" cy="1371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HumanBond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0xB3cbCB0294995FE1aCD7187B94aEDBD4555c5A63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7863840" cy="5029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724912"/>
            <a:ext cx="137160" cy="1371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420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VowNFT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Soulbound marriage NFT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5420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0x8c64c304854F9284ddb976918dF37Bd4f5949F22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18104"/>
            <a:ext cx="7863840" cy="5029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300984"/>
            <a:ext cx="137160" cy="1371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1181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MilestoneNFT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1181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Anniversary NFTs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0x566c4a366625F08A714dd092f8bD2F0E86f906f5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694176"/>
            <a:ext cx="7863840" cy="5029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77056"/>
            <a:ext cx="137160" cy="1371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6941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TimeToken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6941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6941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0x39e629681a9db65D9352961d8dCD4C96C4A1169a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462272"/>
            <a:ext cx="7863840" cy="502920"/>
          </a:xfrm>
          <a:prstGeom prst="rect">
            <a:avLst/>
          </a:prstGeom>
          <a:solidFill>
            <a:srgbClr val="0F0F23"/>
          </a:solidFill>
          <a:ln w="12700">
            <a:solidFill>
              <a:srgbClr val="0F0F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622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minting right now.  </a:t>
            </a:r>
            <a:pPr algn="ctr" indent="0" marL="0">
              <a:buNone/>
            </a:pPr>
            <a:r>
              <a:rPr lang="en-US" sz="1500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TIME per day, per active bond.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Five-step lifecycle. Fully on-chain. No off-chain trust.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920240" y="2651760"/>
            <a:ext cx="228600" cy="36576"/>
          </a:xfrm>
          <a:prstGeom prst="rect">
            <a:avLst/>
          </a:prstGeom>
          <a:solidFill>
            <a:srgbClr val="E5E3DC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1005840" cy="1005840"/>
          </a:xfrm>
          <a:prstGeom prst="ellipse">
            <a:avLst/>
          </a:prstGeom>
          <a:solidFill>
            <a:srgbClr val="0F0F23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3657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Orb proof.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Nullifier: propose-bond.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2651760"/>
            <a:ext cx="228600" cy="36576"/>
          </a:xfrm>
          <a:prstGeom prst="rect">
            <a:avLst/>
          </a:prstGeom>
          <a:solidFill>
            <a:srgbClr val="E5E3DC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2148840"/>
            <a:ext cx="1005840" cy="1005840"/>
          </a:xfrm>
          <a:prstGeom prst="ellipse">
            <a:avLst/>
          </a:prstGeom>
          <a:solidFill>
            <a:srgbClr val="0F0F23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1031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03120" y="3657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Orb proof.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activated.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651760"/>
            <a:ext cx="228600" cy="36576"/>
          </a:xfrm>
          <a:prstGeom prst="rect">
            <a:avLst/>
          </a:prstGeom>
          <a:solidFill>
            <a:srgbClr val="E5E3DC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148840"/>
            <a:ext cx="1005840" cy="1005840"/>
          </a:xfrm>
          <a:prstGeom prst="ellipse">
            <a:avLst/>
          </a:prstGeom>
          <a:solidFill>
            <a:srgbClr val="0F0F23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908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7947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Accrue Yield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94760" y="3657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TIME / day.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lazily.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2651760"/>
            <a:ext cx="228600" cy="36576"/>
          </a:xfrm>
          <a:prstGeom prst="rect">
            <a:avLst/>
          </a:prstGeom>
          <a:solidFill>
            <a:srgbClr val="E5E3DC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148840"/>
            <a:ext cx="1005840" cy="1005840"/>
          </a:xfrm>
          <a:prstGeom prst="ellipse">
            <a:avLst/>
          </a:prstGeom>
          <a:solidFill>
            <a:srgbClr val="0F0F23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3657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NFT.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supported.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52360" y="2148840"/>
            <a:ext cx="1005840" cy="1005840"/>
          </a:xfrm>
          <a:prstGeom prst="ellipse">
            <a:avLst/>
          </a:prstGeom>
          <a:solidFill>
            <a:srgbClr val="0F0F23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148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71780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Exit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78040" y="3657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 in 1 tx.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auto-distributes.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emits events. Every bond is queryable. Every hour is witnessed.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WORLD BUILD 3 JUDGES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ID is not a feature.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i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the foundation.</a:t>
            </a:r>
            <a:endParaRPr lang="en-US" sz="5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926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human, one bond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ID nullifier prevents the same human from bonding to two partners. Wallet addresses can't do this.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926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distinct nullifiers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8328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'propose-bond' and 'accept-bond' are cryptographically separate action domains. No proof replay.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9260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504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Orb-only (Group ID 1)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172200" y="3794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 is a legal-adjacent act. We accept the strongest proof of personhood and nothing less.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B2B ANGLE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slide judges should remember.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$6B </a:t>
            </a:r>
            <a:pPr algn="ctr" indent="0" marL="0">
              <a:buNone/>
            </a:pPr>
            <a:r>
              <a:rPr lang="en-US" sz="200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dating industry.  </a:t>
            </a:r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$300M/yr </a:t>
            </a:r>
            <a:pPr algn="ctr" indent="0" marL="0">
              <a:buNone/>
            </a:pPr>
            <a:r>
              <a:rPr lang="en-US" sz="2000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fraud.</a:t>
            </a:r>
            <a:endParaRPr lang="en-US" sz="28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API call.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754880" cy="1920240"/>
          </a:xfrm>
          <a:prstGeom prst="rect">
            <a:avLst/>
          </a:prstGeom>
          <a:solidFill>
            <a:srgbClr val="0F0F23"/>
          </a:solidFill>
          <a:ln w="12700">
            <a:solidFill>
              <a:srgbClr val="0F0F2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4754880" cy="27432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41401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41401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241401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9748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pPr indent="0" marL="0">
              <a:buNone/>
            </a:pPr>
            <a:r>
              <a:rPr lang="en-US" sz="1200" dirty="0">
                <a:solidFill>
                  <a:srgbClr val="FDFD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/v1/bond-status/{nullifier}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"bonded": 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"since": "2024-03-14",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"chain": "worldchain"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2331720"/>
            <a:ext cx="3108960" cy="192024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@ 360M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penetration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$21.6M/yr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penetration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$36.0M/yr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penetration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$72.0M/yr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pricing: $0.50 – $2.00. Self-serve Tier 1. Enterprise Tier 2. Zero PII leakage.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self-register for their own reasons. Dating apps get the registry as a byproduct.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Voluntary self-registration closes the loop.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130523" y="2371750"/>
            <a:ext cx="56977" cy="41396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32686" y="3475520"/>
            <a:ext cx="-21763" cy="6698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07214" y="4199083"/>
            <a:ext cx="-70427" cy="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33078" y="3542500"/>
            <a:ext cx="-21763" cy="-66980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56500" y="2413147"/>
            <a:ext cx="56977" cy="-41396"/>
          </a:xfrm>
          <a:prstGeom prst="line">
            <a:avLst/>
          </a:prstGeom>
          <a:noFill/>
          <a:ln w="317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971800"/>
            <a:ext cx="457200" cy="45720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♥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09060" y="1303020"/>
            <a:ext cx="1325880" cy="132588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9060" y="13761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954780" y="194310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3082" y="2155997"/>
            <a:ext cx="1325880" cy="132588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3082" y="2229149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28802" y="2796077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34646" y="3536143"/>
            <a:ext cx="1325880" cy="132588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4646" y="3609295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80366" y="4176223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3474" y="3536143"/>
            <a:ext cx="1325880" cy="132588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3474" y="3609295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29194" y="4176223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35038" y="2155997"/>
            <a:ext cx="1325880" cy="1325880"/>
          </a:xfrm>
          <a:prstGeom prst="ellipse">
            <a:avLst/>
          </a:prstGeom>
          <a:solidFill>
            <a:srgbClr val="0F0F23"/>
          </a:solidFill>
          <a:ln w="3175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5038" y="2229149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2780758" y="2796077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bond compounds registry value for every dating app that integrates.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PROTOCOL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TIME = </a:t>
            </a:r>
            <a:pPr algn="ctr" indent="0" marL="0">
              <a:buNone/>
            </a:pPr>
            <a:r>
              <a:rPr lang="en-US" sz="28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hour</a:t>
            </a:r>
            <a:pPr algn="ctr" indent="0" marL="0">
              <a:buNone/>
            </a:pPr>
            <a:r>
              <a:rPr lang="en-US" sz="2800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verified human existence.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HumanBond ships the first live deployment.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931920" cy="2286000"/>
          </a:xfrm>
          <a:prstGeom prst="rect">
            <a:avLst/>
          </a:prstGeom>
          <a:solidFill>
            <a:srgbClr val="1A1D3A"/>
          </a:solidFill>
          <a:ln w="25400">
            <a:solidFill>
              <a:srgbClr val="F1B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Relationship-longevity TIME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TIME per day per active bond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Minted on claim, split 50/50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Tamper-resistant — time just elapses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yield auto-mints on divorce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48840"/>
            <a:ext cx="3931920" cy="2286000"/>
          </a:xfrm>
          <a:prstGeom prst="rect">
            <a:avLst/>
          </a:prstGeom>
          <a:solidFill>
            <a:srgbClr val="1A1D3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· ROADMAP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Work-hour 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3108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WorkNFT attests hours + income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 mints TIME proportional to work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Day-scoped nullifiers cap at 24 / day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Five-stage dispute resolution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January 1, 2034 · The TIME Schelling point.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Chain canonical. Ethereum + NEAR satellites.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51760" cy="2560320"/>
          </a:xfrm>
          <a:prstGeom prst="rect">
            <a:avLst/>
          </a:prstGeom>
          <a:solidFill>
            <a:srgbClr val="0F0F23"/>
          </a:solidFill>
          <a:ln w="25400">
            <a:solidFill>
              <a:srgbClr val="F1B2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202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Chain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mainnet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marriage state, all TIME minting, all registry queries originate here.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2651760" cy="25603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9202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Ethereum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syncing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registry mirror. Future: TIME liquidity venue.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651760" cy="256032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9202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syncing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2004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registry mirror. Cheap query layer.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Day-scoped chain-agnostic nullifiers enforce: no human mints more than 24 TIME per day, across all chains combined.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building for humans.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965960" cy="274320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19659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700" y="2011680"/>
            <a:ext cx="914400" cy="91440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F1B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7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Herb Stephens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🇵🇹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Product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Democracy Earth Foundation. Author, The Lie of Investing. herbstephens.eth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65960" cy="274320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691640"/>
            <a:ext cx="19659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6100" y="2011680"/>
            <a:ext cx="914400" cy="91440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F1B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61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Leticia Azevedo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🇧🇷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517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Smart Contracts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all 4 contracts on World Chain mainnet. @letiweb3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691640"/>
            <a:ext cx="1965960" cy="274320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691640"/>
            <a:ext cx="19659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3500" y="2011680"/>
            <a:ext cx="914400" cy="91440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F1B2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91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Franco Amicone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🇦🇷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 lead. Next.js, MiniKit 2.0, viem/wagmi.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1691640"/>
            <a:ext cx="1965960" cy="2743200"/>
          </a:xfrm>
          <a:prstGeom prst="rect">
            <a:avLst/>
          </a:prstGeom>
          <a:solidFill>
            <a:srgbClr val="F5F4F0"/>
          </a:solidFill>
          <a:ln w="12700">
            <a:solidFill>
              <a:srgbClr val="E5E3D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1691640"/>
            <a:ext cx="1965960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00900" y="2011680"/>
            <a:ext cx="914400" cy="914400"/>
          </a:xfrm>
          <a:prstGeom prst="ellipse">
            <a:avLst/>
          </a:prstGeom>
          <a:solidFill>
            <a:srgbClr val="0F0F23"/>
          </a:solidFill>
          <a:ln w="25400">
            <a:solidFill>
              <a:srgbClr val="F1B2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09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7665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Axel Ország-Krisz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355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🇭🇺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1228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infrastructure. NEAR + Ethereum satellites.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humans. Four countries. Four chains. One bond.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ellipse">
            <a:avLst/>
          </a:prstGeom>
          <a:solidFill>
            <a:srgbClr val="F1B24A"/>
          </a:solidFill>
          <a:ln w="12700">
            <a:solidFill>
              <a:srgbClr val="F1B2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B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DFD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We'll see you in Seoul.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51760" cy="201168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26517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BUILD WEEK · MAY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Mini App rebrand. Dating-app API private alpha. WorkNFT v0. Real users onboarded.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057400"/>
            <a:ext cx="2651760" cy="201168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057400"/>
            <a:ext cx="26517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240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VIRTUAL · MAY–AUG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launch. Formal audit. First paid pilots. V2 work-hour TIME minting live.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057400"/>
            <a:ext cx="2651760" cy="2011680"/>
          </a:xfrm>
          <a:prstGeom prst="rect">
            <a:avLst/>
          </a:prstGeom>
          <a:solidFill>
            <a:srgbClr val="1A1D3A"/>
          </a:solidFill>
          <a:ln w="12700">
            <a:solidFill>
              <a:srgbClr val="1A1D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057400"/>
            <a:ext cx="265176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2402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B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26364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DEMO DAY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metrics. Real B2B revenue. Seed round with a World-aligned lead.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4434840"/>
            <a:ext cx="4389120" cy="365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DF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BUILD 3 · FINALIST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6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github.com/herbstephens/humanbond-worldbuild3  ·  Live on World Chain today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HumanBond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HumanBond — World Build 3</dc:title>
  <dc:subject>PptxGenJS Presentation</dc:subject>
  <dc:creator>HumanBond Team</dc:creator>
  <cp:lastModifiedBy>HumanBond Team</cp:lastModifiedBy>
  <cp:revision>1</cp:revision>
  <dcterms:created xsi:type="dcterms:W3CDTF">2026-04-22T18:30:41Z</dcterms:created>
  <dcterms:modified xsi:type="dcterms:W3CDTF">2026-04-22T18:30:41Z</dcterms:modified>
</cp:coreProperties>
</file>